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27" autoAdjust="0"/>
    <p:restoredTop sz="94660"/>
  </p:normalViewPr>
  <p:slideViewPr>
    <p:cSldViewPr snapToGrid="0">
      <p:cViewPr varScale="1">
        <p:scale>
          <a:sx n="84" d="100"/>
          <a:sy n="84" d="100"/>
        </p:scale>
        <p:origin x="30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DC1FF6A3-6211-6F9B-D074-C56E737F9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>
            <a:extLst>
              <a:ext uri="{FF2B5EF4-FFF2-40B4-BE49-F238E27FC236}">
                <a16:creationId xmlns:a16="http://schemas.microsoft.com/office/drawing/2014/main" id="{D7FBFD15-A5BD-0E8C-35AB-166D685C4B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>
            <a:extLst>
              <a:ext uri="{FF2B5EF4-FFF2-40B4-BE49-F238E27FC236}">
                <a16:creationId xmlns:a16="http://schemas.microsoft.com/office/drawing/2014/main" id="{41414A8E-9852-63B6-F20F-26E7CE21D0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3174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5.png"/><Relationship Id="rId5" Type="http://schemas.openxmlformats.org/officeDocument/2006/relationships/image" Target="../media/image6.png"/><Relationship Id="rId10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8.png"/><Relationship Id="rId5" Type="http://schemas.openxmlformats.org/officeDocument/2006/relationships/image" Target="../media/image6.png"/><Relationship Id="rId10" Type="http://schemas.openxmlformats.org/officeDocument/2006/relationships/image" Target="../media/image17.png"/><Relationship Id="rId4" Type="http://schemas.openxmlformats.org/officeDocument/2006/relationships/image" Target="../media/image5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4.png"/><Relationship Id="rId5" Type="http://schemas.openxmlformats.org/officeDocument/2006/relationships/image" Target="../media/image6.png"/><Relationship Id="rId10" Type="http://schemas.openxmlformats.org/officeDocument/2006/relationships/image" Target="../media/image23.png"/><Relationship Id="rId4" Type="http://schemas.openxmlformats.org/officeDocument/2006/relationships/image" Target="../media/image5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88" y="2857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44105" y="4051112"/>
            <a:ext cx="6503640" cy="120550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315902" y="1403300"/>
            <a:ext cx="156019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Swar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327498" y="2321421"/>
            <a:ext cx="5944517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 u="none" strike="noStrike" cap="none" dirty="0">
                <a:solidFill>
                  <a:srgbClr val="4B55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Voice-Based Email &amp; Messaging Assistant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0" i="1" u="none" strike="noStrike" cap="none" dirty="0">
                <a:solidFill>
                  <a:srgbClr val="4B55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Enabling Hands-Free Communication for All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844105" y="4449067"/>
            <a:ext cx="650364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Presenting by:</a:t>
            </a:r>
            <a:r>
              <a:rPr lang="en-US" sz="165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Aditya Singh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2844105" y="4784228"/>
            <a:ext cx="65037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of:</a:t>
            </a:r>
            <a:r>
              <a:rPr lang="en-US" sz="165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50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Santhiya Krishnasamy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2844105" y="5084665"/>
            <a:ext cx="650364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purpose of:</a:t>
            </a:r>
            <a:r>
              <a:rPr lang="en-IN" sz="1650" dirty="0"/>
              <a:t> </a:t>
            </a:r>
            <a:r>
              <a:rPr lang="en-US" dirty="0"/>
              <a:t>Infosys Springboard Virtual Internship</a:t>
            </a:r>
            <a:endParaRPr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69752"/>
            <a:ext cx="51816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676275" y="485775"/>
            <a:ext cx="11381422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Swar??</a:t>
            </a:r>
            <a:endParaRPr dirty="0"/>
          </a:p>
        </p:txBody>
      </p:sp>
      <p:sp>
        <p:nvSpPr>
          <p:cNvPr id="98" name="Google Shape;98;p14"/>
          <p:cNvSpPr/>
          <p:nvPr/>
        </p:nvSpPr>
        <p:spPr>
          <a:xfrm>
            <a:off x="676275" y="1177230"/>
            <a:ext cx="10839450" cy="19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76275" y="1583259"/>
            <a:ext cx="54408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</a:t>
            </a:r>
            <a:r>
              <a:rPr lang="en-US" sz="1800" b="1" i="0" u="none" strike="noStrike" cap="none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676275" y="2133153"/>
            <a:ext cx="51816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communication is fundamentally broken for two groups: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676275" y="4805318"/>
            <a:ext cx="544068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Vision:</a:t>
            </a:r>
            <a:endParaRPr sz="1800"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676275" y="5024735"/>
            <a:ext cx="51816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completely remove the screen from the equation. </a:t>
            </a:r>
            <a:r>
              <a:rPr lang="en-US" sz="1650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65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wanted to build an assistant that you don't just </a:t>
            </a:r>
            <a:r>
              <a:rPr lang="en-US" sz="1650" b="0" i="1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</a:t>
            </a:r>
            <a:r>
              <a:rPr lang="en-US" sz="165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but </a:t>
            </a:r>
            <a:r>
              <a:rPr lang="en-US" sz="1650" b="0" i="1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talk to</a:t>
            </a:r>
            <a:r>
              <a:rPr lang="en-US" sz="165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8900" y="2174527"/>
            <a:ext cx="49720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976630" y="3178365"/>
            <a:ext cx="7620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1057275" y="3041600"/>
            <a:ext cx="48006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Visually Impaired Users:</a:t>
            </a:r>
            <a:r>
              <a:rPr lang="en-US" sz="165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Navigating complex screens with screen readers is frustrating and slow.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976630" y="3980761"/>
            <a:ext cx="45719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1052830" y="3846901"/>
            <a:ext cx="48006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Multitasking Professionals:</a:t>
            </a:r>
            <a:r>
              <a:rPr lang="en-US" sz="165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You can't safely read emails while driving or cooking.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577280"/>
            <a:ext cx="3422600" cy="4794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1577280"/>
            <a:ext cx="3422600" cy="4794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2975" y="1577280"/>
            <a:ext cx="3422600" cy="479494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76275" y="485775"/>
            <a:ext cx="11381422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Approach (Methodology)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676275" y="1177230"/>
            <a:ext cx="10839450" cy="19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06500" y="187255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900748" y="2825055"/>
            <a:ext cx="2973652" cy="30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User-First Design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971550" y="3217366"/>
            <a:ext cx="28320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971550" y="3369766"/>
            <a:ext cx="2832050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started by asking, "What if the user has no keyboard?" This drove our decision to enable the microphone immediately handling "Wake Words".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4851" y="187255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4609099" y="2825055"/>
            <a:ext cx="2973652" cy="30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Privacy-First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4679900" y="3217366"/>
            <a:ext cx="28320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4679900" y="3369766"/>
            <a:ext cx="2832050" cy="105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Instead of sending your face data to the cloud, I chose to process it locally using OpenCV. It's safer and faster.</a:t>
            </a:r>
            <a:endParaRPr dirty="0"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23201" y="187255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8317449" y="2825055"/>
            <a:ext cx="2973652" cy="30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Agile Sprints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8388250" y="3217366"/>
            <a:ext cx="28320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8388250" y="3369766"/>
            <a:ext cx="2832050" cy="105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</a:t>
            </a:r>
            <a:r>
              <a:rPr lang="en-US" sz="1425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oke the massive 8-week goal into bite-sized 2-week milestones to ensure we always had working code.</a:t>
            </a:r>
            <a:endParaRPr dirty="0"/>
          </a:p>
        </p:txBody>
      </p:sp>
      <p:pic>
        <p:nvPicPr>
          <p:cNvPr id="130" name="Google Shape;13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44625" y="206305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57726" y="206305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13701" y="206305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676275" y="485775"/>
            <a:ext cx="11381422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We Are Going (Roadmap)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676275" y="1177230"/>
            <a:ext cx="10839450" cy="19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676275" y="3157537"/>
            <a:ext cx="1083945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1888331" y="3014662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758547" y="3490912"/>
            <a:ext cx="2545318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Milestone 1 (Now)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19150" y="3837533"/>
            <a:ext cx="2424112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Foundation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4B55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Biometric login, database schemas, and voice loops.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4598193" y="3014662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3468409" y="3490912"/>
            <a:ext cx="2545318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Milestone 2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3529012" y="3837533"/>
            <a:ext cx="2424112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Connector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4B55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Hooking up Swar to Gmail so it can actually read your inbox.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7308056" y="3014662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6178272" y="3490912"/>
            <a:ext cx="2545318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Milestone 3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238875" y="3837533"/>
            <a:ext cx="2424112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Brain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4B55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Adding AI to summarize long message threads specifically for WhatsApp.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10017918" y="3014662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8888134" y="3490912"/>
            <a:ext cx="2545318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Milestone 4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948737" y="3837533"/>
            <a:ext cx="2424112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Shield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4B55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Dockerizing the app and adding Voice PINs for 2-Factor Authentication.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577280"/>
            <a:ext cx="3422600" cy="4794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1577280"/>
            <a:ext cx="3422600" cy="4794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2975" y="1577280"/>
            <a:ext cx="3422600" cy="479494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676275" y="485775"/>
            <a:ext cx="11381422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Milestone 1 Achievements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676275" y="1177230"/>
            <a:ext cx="10839450" cy="19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06500" y="187255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900748" y="2825055"/>
            <a:ext cx="2973652" cy="30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"Look to Login"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971550" y="3217366"/>
            <a:ext cx="28320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971550" y="3369766"/>
            <a:ext cx="2832050" cy="105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425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completely removed passwords. The camera identifies you instantly, making access zero-touch.</a:t>
            </a:r>
            <a:endParaRPr dirty="0"/>
          </a:p>
        </p:txBody>
      </p:sp>
      <p:pic>
        <p:nvPicPr>
          <p:cNvPr id="167" name="Google Shape;16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4851" y="187255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4609099" y="2825055"/>
            <a:ext cx="2973652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reading</a:t>
            </a:r>
            <a:endParaRPr dirty="0"/>
          </a:p>
        </p:txBody>
      </p:sp>
      <p:sp>
        <p:nvSpPr>
          <p:cNvPr id="169" name="Google Shape;169;p17"/>
          <p:cNvSpPr/>
          <p:nvPr/>
        </p:nvSpPr>
        <p:spPr>
          <a:xfrm>
            <a:off x="4679900" y="3217366"/>
            <a:ext cx="28320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4679900" y="3369766"/>
            <a:ext cx="2832050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remembers reads the mail and message for you smoothly.</a:t>
            </a:r>
          </a:p>
        </p:txBody>
      </p:sp>
      <p:pic>
        <p:nvPicPr>
          <p:cNvPr id="171" name="Google Shape;17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23201" y="187255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8317449" y="2825055"/>
            <a:ext cx="2973652" cy="30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Backbone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8388250" y="3217366"/>
            <a:ext cx="28320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8388250" y="3369766"/>
            <a:ext cx="2832050" cy="105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425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esigned a database ready for the future, capable of handling not just emails but WhatsApp threads too.</a:t>
            </a:r>
            <a:endParaRPr dirty="0"/>
          </a:p>
        </p:txBody>
      </p:sp>
      <p:pic>
        <p:nvPicPr>
          <p:cNvPr id="175" name="Google Shape;175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73188" y="2063055"/>
            <a:ext cx="428625" cy="381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6" name="Google Shape;176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905351" y="2063055"/>
            <a:ext cx="381000" cy="381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7" name="Google Shape;177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37514" y="2063055"/>
            <a:ext cx="333375" cy="381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7B3F1456-747D-8AE4-87D9-3AADD2636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image.png">
            <a:extLst>
              <a:ext uri="{FF2B5EF4-FFF2-40B4-BE49-F238E27FC236}">
                <a16:creationId xmlns:a16="http://schemas.microsoft.com/office/drawing/2014/main" id="{E0B291EB-35F7-A57D-9626-848ED646EE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49" y="-2177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>
            <a:extLst>
              <a:ext uri="{FF2B5EF4-FFF2-40B4-BE49-F238E27FC236}">
                <a16:creationId xmlns:a16="http://schemas.microsoft.com/office/drawing/2014/main" id="{F34F282D-3AD4-A1EA-BBB0-B0BDD825ABA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577280"/>
            <a:ext cx="3422600" cy="4794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>
            <a:extLst>
              <a:ext uri="{FF2B5EF4-FFF2-40B4-BE49-F238E27FC236}">
                <a16:creationId xmlns:a16="http://schemas.microsoft.com/office/drawing/2014/main" id="{501B7BB3-339A-7C99-6271-EC923E82C30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1577280"/>
            <a:ext cx="3422600" cy="4794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>
            <a:extLst>
              <a:ext uri="{FF2B5EF4-FFF2-40B4-BE49-F238E27FC236}">
                <a16:creationId xmlns:a16="http://schemas.microsoft.com/office/drawing/2014/main" id="{7EEB9EC0-C488-1A39-6193-F3635D20564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2975" y="1577280"/>
            <a:ext cx="3422600" cy="479494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>
            <a:extLst>
              <a:ext uri="{FF2B5EF4-FFF2-40B4-BE49-F238E27FC236}">
                <a16:creationId xmlns:a16="http://schemas.microsoft.com/office/drawing/2014/main" id="{0CCB20A9-5B7B-4A4F-5989-53D0E0BF6C50}"/>
              </a:ext>
            </a:extLst>
          </p:cNvPr>
          <p:cNvSpPr txBox="1"/>
          <p:nvPr/>
        </p:nvSpPr>
        <p:spPr>
          <a:xfrm>
            <a:off x="676275" y="485775"/>
            <a:ext cx="11381422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Milestone 2 Achievements</a:t>
            </a:r>
            <a:endParaRPr dirty="0"/>
          </a:p>
        </p:txBody>
      </p:sp>
      <p:sp>
        <p:nvSpPr>
          <p:cNvPr id="162" name="Google Shape;162;p17">
            <a:extLst>
              <a:ext uri="{FF2B5EF4-FFF2-40B4-BE49-F238E27FC236}">
                <a16:creationId xmlns:a16="http://schemas.microsoft.com/office/drawing/2014/main" id="{2ABEAC88-8520-0D32-AC09-18E5428B40EF}"/>
              </a:ext>
            </a:extLst>
          </p:cNvPr>
          <p:cNvSpPr/>
          <p:nvPr/>
        </p:nvSpPr>
        <p:spPr>
          <a:xfrm>
            <a:off x="676275" y="1177230"/>
            <a:ext cx="10839450" cy="19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7" descr="image.png">
            <a:extLst>
              <a:ext uri="{FF2B5EF4-FFF2-40B4-BE49-F238E27FC236}">
                <a16:creationId xmlns:a16="http://schemas.microsoft.com/office/drawing/2014/main" id="{A99FE280-094F-3922-976E-90A491AC058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06500" y="187255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>
            <a:extLst>
              <a:ext uri="{FF2B5EF4-FFF2-40B4-BE49-F238E27FC236}">
                <a16:creationId xmlns:a16="http://schemas.microsoft.com/office/drawing/2014/main" id="{D63622D5-CDEB-BF70-B5E6-CFDB8F4F72FC}"/>
              </a:ext>
            </a:extLst>
          </p:cNvPr>
          <p:cNvSpPr txBox="1"/>
          <p:nvPr/>
        </p:nvSpPr>
        <p:spPr>
          <a:xfrm>
            <a:off x="900748" y="2825055"/>
            <a:ext cx="2973652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 PIN</a:t>
            </a:r>
            <a:endParaRPr dirty="0"/>
          </a:p>
        </p:txBody>
      </p:sp>
      <p:sp>
        <p:nvSpPr>
          <p:cNvPr id="165" name="Google Shape;165;p17">
            <a:extLst>
              <a:ext uri="{FF2B5EF4-FFF2-40B4-BE49-F238E27FC236}">
                <a16:creationId xmlns:a16="http://schemas.microsoft.com/office/drawing/2014/main" id="{BB0E2123-1A85-556B-EA9A-BB389D635B56}"/>
              </a:ext>
            </a:extLst>
          </p:cNvPr>
          <p:cNvSpPr/>
          <p:nvPr/>
        </p:nvSpPr>
        <p:spPr>
          <a:xfrm>
            <a:off x="971550" y="3217366"/>
            <a:ext cx="28320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>
            <a:extLst>
              <a:ext uri="{FF2B5EF4-FFF2-40B4-BE49-F238E27FC236}">
                <a16:creationId xmlns:a16="http://schemas.microsoft.com/office/drawing/2014/main" id="{5F9B4281-6168-1A39-BC26-FB3E3768904C}"/>
              </a:ext>
            </a:extLst>
          </p:cNvPr>
          <p:cNvSpPr txBox="1"/>
          <p:nvPr/>
        </p:nvSpPr>
        <p:spPr>
          <a:xfrm>
            <a:off x="971550" y="3369766"/>
            <a:ext cx="2832050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Added 2FA by adding another Voice PIN as additional user authentication.</a:t>
            </a:r>
            <a:endParaRPr dirty="0"/>
          </a:p>
        </p:txBody>
      </p:sp>
      <p:pic>
        <p:nvPicPr>
          <p:cNvPr id="167" name="Google Shape;167;p17" descr="image.png">
            <a:extLst>
              <a:ext uri="{FF2B5EF4-FFF2-40B4-BE49-F238E27FC236}">
                <a16:creationId xmlns:a16="http://schemas.microsoft.com/office/drawing/2014/main" id="{C7B544DA-25C3-9C65-0FAE-EB28267203E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4851" y="187255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>
            <a:extLst>
              <a:ext uri="{FF2B5EF4-FFF2-40B4-BE49-F238E27FC236}">
                <a16:creationId xmlns:a16="http://schemas.microsoft.com/office/drawing/2014/main" id="{C9049B14-5550-1C91-9495-37996DBD1C4A}"/>
              </a:ext>
            </a:extLst>
          </p:cNvPr>
          <p:cNvSpPr txBox="1"/>
          <p:nvPr/>
        </p:nvSpPr>
        <p:spPr>
          <a:xfrm>
            <a:off x="4609099" y="2825055"/>
            <a:ext cx="2973652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sz="1950" b="1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Compose &amp; send email</a:t>
            </a:r>
            <a:endParaRPr lang="en-US" sz="1950" dirty="0"/>
          </a:p>
        </p:txBody>
      </p:sp>
      <p:sp>
        <p:nvSpPr>
          <p:cNvPr id="169" name="Google Shape;169;p17">
            <a:extLst>
              <a:ext uri="{FF2B5EF4-FFF2-40B4-BE49-F238E27FC236}">
                <a16:creationId xmlns:a16="http://schemas.microsoft.com/office/drawing/2014/main" id="{D167A226-EA9C-1419-64CE-7CB9F34115C2}"/>
              </a:ext>
            </a:extLst>
          </p:cNvPr>
          <p:cNvSpPr/>
          <p:nvPr/>
        </p:nvSpPr>
        <p:spPr>
          <a:xfrm>
            <a:off x="4679900" y="3217366"/>
            <a:ext cx="28320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>
            <a:extLst>
              <a:ext uri="{FF2B5EF4-FFF2-40B4-BE49-F238E27FC236}">
                <a16:creationId xmlns:a16="http://schemas.microsoft.com/office/drawing/2014/main" id="{03790141-A862-E33E-DF7C-478E1500491D}"/>
              </a:ext>
            </a:extLst>
          </p:cNvPr>
          <p:cNvSpPr txBox="1"/>
          <p:nvPr/>
        </p:nvSpPr>
        <p:spPr>
          <a:xfrm>
            <a:off x="4679900" y="3369766"/>
            <a:ext cx="2832050" cy="105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</a:t>
            </a:r>
            <a:r>
              <a:rPr lang="en-US" sz="1425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compose</a:t>
            </a:r>
            <a:r>
              <a:rPr lang="en-US" sz="1425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mail and sent it to the recipient on your voice command.</a:t>
            </a:r>
          </a:p>
        </p:txBody>
      </p:sp>
      <p:pic>
        <p:nvPicPr>
          <p:cNvPr id="171" name="Google Shape;171;p17" descr="image.png">
            <a:extLst>
              <a:ext uri="{FF2B5EF4-FFF2-40B4-BE49-F238E27FC236}">
                <a16:creationId xmlns:a16="http://schemas.microsoft.com/office/drawing/2014/main" id="{385C4F7D-93C9-9314-B6DD-C27DC540069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23201" y="187255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>
            <a:extLst>
              <a:ext uri="{FF2B5EF4-FFF2-40B4-BE49-F238E27FC236}">
                <a16:creationId xmlns:a16="http://schemas.microsoft.com/office/drawing/2014/main" id="{7015B2B6-DA7C-F9FD-9693-04C1230E07F2}"/>
              </a:ext>
            </a:extLst>
          </p:cNvPr>
          <p:cNvSpPr txBox="1"/>
          <p:nvPr/>
        </p:nvSpPr>
        <p:spPr>
          <a:xfrm>
            <a:off x="8317449" y="2825055"/>
            <a:ext cx="2973652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NLU impl</a:t>
            </a:r>
            <a:r>
              <a:rPr lang="en-US" sz="1950" b="1" i="0" u="none" strike="noStrike" cap="none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ementation</a:t>
            </a:r>
            <a:endParaRPr dirty="0"/>
          </a:p>
        </p:txBody>
      </p:sp>
      <p:sp>
        <p:nvSpPr>
          <p:cNvPr id="173" name="Google Shape;173;p17">
            <a:extLst>
              <a:ext uri="{FF2B5EF4-FFF2-40B4-BE49-F238E27FC236}">
                <a16:creationId xmlns:a16="http://schemas.microsoft.com/office/drawing/2014/main" id="{A52D36C9-8084-E2D8-6825-77B8EEB6CAB6}"/>
              </a:ext>
            </a:extLst>
          </p:cNvPr>
          <p:cNvSpPr/>
          <p:nvPr/>
        </p:nvSpPr>
        <p:spPr>
          <a:xfrm>
            <a:off x="8388250" y="3217366"/>
            <a:ext cx="28320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>
            <a:extLst>
              <a:ext uri="{FF2B5EF4-FFF2-40B4-BE49-F238E27FC236}">
                <a16:creationId xmlns:a16="http://schemas.microsoft.com/office/drawing/2014/main" id="{C2811C2E-39BD-45F4-7B36-C8A4A7F86DCB}"/>
              </a:ext>
            </a:extLst>
          </p:cNvPr>
          <p:cNvSpPr txBox="1"/>
          <p:nvPr/>
        </p:nvSpPr>
        <p:spPr>
          <a:xfrm>
            <a:off x="8388250" y="3369766"/>
            <a:ext cx="2832050" cy="105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NLU so that system can easily recognized and understand the user commands.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B2081D-67DC-AE26-5B16-80FAAF60BF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1446" y="1931653"/>
            <a:ext cx="572108" cy="572108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B26843C8-B09C-767C-69E4-7410C1CE3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049" y="2047874"/>
            <a:ext cx="526448" cy="526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DEFFD3-BA9E-23D5-7DBA-BBD802BE7B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18605" y="2009090"/>
            <a:ext cx="571191" cy="56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224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 txBox="1"/>
          <p:nvPr/>
        </p:nvSpPr>
        <p:spPr>
          <a:xfrm>
            <a:off x="676275" y="485775"/>
            <a:ext cx="11381422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676275" y="1177230"/>
            <a:ext cx="10839450" cy="19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733806" y="1274035"/>
            <a:ext cx="5181600" cy="310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IN" sz="1800" b="1" dirty="0"/>
              <a:t>Frontend:</a:t>
            </a:r>
            <a:r>
              <a:rPr lang="en-IN" sz="1800" dirty="0"/>
              <a:t> </a:t>
            </a:r>
            <a:r>
              <a:rPr lang="en-IN" sz="1800" dirty="0" err="1"/>
              <a:t>Streamlit</a:t>
            </a:r>
            <a:r>
              <a:rPr lang="en-IN" sz="1800" dirty="0"/>
              <a:t> Web UI</a:t>
            </a:r>
            <a:br>
              <a:rPr lang="en-IN" sz="1800" dirty="0"/>
            </a:br>
            <a:r>
              <a:rPr lang="en-IN" sz="1800" b="1" dirty="0"/>
              <a:t>Backend:</a:t>
            </a:r>
            <a:r>
              <a:rPr lang="en-IN" sz="1800" dirty="0"/>
              <a:t> Python Application Logic</a:t>
            </a:r>
            <a:br>
              <a:rPr lang="en-IN" sz="1800" dirty="0"/>
            </a:br>
            <a:r>
              <a:rPr lang="en-IN" sz="1800" b="1" dirty="0"/>
              <a:t>Computer Vision:</a:t>
            </a:r>
            <a:r>
              <a:rPr lang="en-IN" sz="1800" dirty="0"/>
              <a:t> OpenCV + Face Recognition</a:t>
            </a:r>
            <a:br>
              <a:rPr lang="en-IN" sz="1800" dirty="0"/>
            </a:br>
            <a:r>
              <a:rPr lang="en-IN" sz="1800" b="1" dirty="0"/>
              <a:t>Speech Pipeline:</a:t>
            </a:r>
            <a:r>
              <a:rPr lang="en-IN" sz="1800" dirty="0"/>
              <a:t> </a:t>
            </a:r>
            <a:r>
              <a:rPr lang="en-IN" sz="1800" dirty="0" err="1"/>
              <a:t>SpeechRecognition</a:t>
            </a:r>
            <a:r>
              <a:rPr lang="en-IN" sz="1800" dirty="0"/>
              <a:t> (ASR) + </a:t>
            </a:r>
            <a:r>
              <a:rPr lang="en-IN" sz="1800" dirty="0" err="1"/>
              <a:t>gTTS</a:t>
            </a:r>
            <a:r>
              <a:rPr lang="en-IN" sz="1800" dirty="0"/>
              <a:t> (TTS)+NLU</a:t>
            </a:r>
            <a:br>
              <a:rPr lang="en-IN" sz="1800" dirty="0"/>
            </a:br>
            <a:r>
              <a:rPr lang="en-IN" sz="1800" b="1" dirty="0"/>
              <a:t>Database:</a:t>
            </a:r>
            <a:r>
              <a:rPr lang="en-IN" sz="1800" dirty="0"/>
              <a:t> SQLite (User Details + Face Encodings)</a:t>
            </a:r>
            <a:endParaRPr sz="1600" dirty="0"/>
          </a:p>
        </p:txBody>
      </p:sp>
      <p:sp>
        <p:nvSpPr>
          <p:cNvPr id="188" name="Google Shape;188;p18"/>
          <p:cNvSpPr txBox="1"/>
          <p:nvPr/>
        </p:nvSpPr>
        <p:spPr>
          <a:xfrm>
            <a:off x="686499" y="4306092"/>
            <a:ext cx="544068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Senses:</a:t>
            </a:r>
            <a:endParaRPr sz="2400" dirty="0"/>
          </a:p>
        </p:txBody>
      </p:sp>
      <p:sp>
        <p:nvSpPr>
          <p:cNvPr id="190" name="Google Shape;190;p18"/>
          <p:cNvSpPr txBox="1"/>
          <p:nvPr/>
        </p:nvSpPr>
        <p:spPr>
          <a:xfrm>
            <a:off x="919544" y="5173358"/>
            <a:ext cx="76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sz="1800" dirty="0"/>
          </a:p>
        </p:txBody>
      </p:sp>
      <p:sp>
        <p:nvSpPr>
          <p:cNvPr id="191" name="Google Shape;191;p18"/>
          <p:cNvSpPr txBox="1"/>
          <p:nvPr/>
        </p:nvSpPr>
        <p:spPr>
          <a:xfrm>
            <a:off x="1125664" y="5481135"/>
            <a:ext cx="4800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Eyes:</a:t>
            </a:r>
            <a:r>
              <a:rPr lang="en-US" sz="200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OpenCV for Face Recognition.</a:t>
            </a:r>
            <a:endParaRPr sz="1800" dirty="0"/>
          </a:p>
        </p:txBody>
      </p:sp>
      <p:sp>
        <p:nvSpPr>
          <p:cNvPr id="192" name="Google Shape;192;p18"/>
          <p:cNvSpPr txBox="1"/>
          <p:nvPr/>
        </p:nvSpPr>
        <p:spPr>
          <a:xfrm>
            <a:off x="919544" y="4838714"/>
            <a:ext cx="76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sz="1800" dirty="0"/>
          </a:p>
        </p:txBody>
      </p:sp>
      <p:sp>
        <p:nvSpPr>
          <p:cNvPr id="193" name="Google Shape;193;p18"/>
          <p:cNvSpPr txBox="1"/>
          <p:nvPr/>
        </p:nvSpPr>
        <p:spPr>
          <a:xfrm>
            <a:off x="1114806" y="4677669"/>
            <a:ext cx="4800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Ears:</a:t>
            </a:r>
            <a:r>
              <a:rPr lang="en-US" sz="200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Google Speech Recognition API.</a:t>
            </a:r>
            <a:endParaRPr sz="1800" dirty="0"/>
          </a:p>
        </p:txBody>
      </p:sp>
      <p:sp>
        <p:nvSpPr>
          <p:cNvPr id="194" name="Google Shape;194;p18"/>
          <p:cNvSpPr txBox="1"/>
          <p:nvPr/>
        </p:nvSpPr>
        <p:spPr>
          <a:xfrm flipV="1">
            <a:off x="919545" y="5582289"/>
            <a:ext cx="7619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sz="1800" dirty="0"/>
          </a:p>
        </p:txBody>
      </p:sp>
      <p:sp>
        <p:nvSpPr>
          <p:cNvPr id="195" name="Google Shape;195;p18"/>
          <p:cNvSpPr txBox="1"/>
          <p:nvPr/>
        </p:nvSpPr>
        <p:spPr>
          <a:xfrm>
            <a:off x="1114806" y="5089846"/>
            <a:ext cx="4800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Voice:</a:t>
            </a:r>
            <a:r>
              <a:rPr lang="en-US" sz="200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gTTS</a:t>
            </a:r>
            <a:r>
              <a:rPr lang="en-US" sz="200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(Google Text-to-Speech).</a:t>
            </a:r>
            <a:endParaRPr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2E12CB-890F-443C-83DC-26DF5A2534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342" t="16782" r="34002" b="8427"/>
          <a:stretch>
            <a:fillRect/>
          </a:stretch>
        </p:blipFill>
        <p:spPr>
          <a:xfrm>
            <a:off x="6555486" y="1356995"/>
            <a:ext cx="3779520" cy="50152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2069752"/>
            <a:ext cx="51816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676275" y="485775"/>
            <a:ext cx="1138142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Design</a:t>
            </a:r>
            <a:endParaRPr sz="1600"/>
          </a:p>
        </p:txBody>
      </p:sp>
      <p:sp>
        <p:nvSpPr>
          <p:cNvPr id="203" name="Google Shape;203;p19"/>
          <p:cNvSpPr/>
          <p:nvPr/>
        </p:nvSpPr>
        <p:spPr>
          <a:xfrm>
            <a:off x="676275" y="1177230"/>
            <a:ext cx="10839450" cy="19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6334125" y="1814363"/>
            <a:ext cx="54406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for Scale:</a:t>
            </a:r>
            <a:endParaRPr sz="2000" dirty="0"/>
          </a:p>
        </p:txBody>
      </p:sp>
      <p:sp>
        <p:nvSpPr>
          <p:cNvPr id="206" name="Google Shape;206;p19"/>
          <p:cNvSpPr txBox="1"/>
          <p:nvPr/>
        </p:nvSpPr>
        <p:spPr>
          <a:xfrm>
            <a:off x="6334125" y="2656135"/>
            <a:ext cx="51816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didn't just build a user table. We designed a </a:t>
            </a:r>
            <a:r>
              <a:rPr lang="en-US" sz="1800" b="1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Relationship-First Schema</a:t>
            </a:r>
            <a:r>
              <a:rPr lang="en-US" sz="180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600" dirty="0"/>
          </a:p>
        </p:txBody>
      </p:sp>
      <p:sp>
        <p:nvSpPr>
          <p:cNvPr id="207" name="Google Shape;207;p19"/>
          <p:cNvSpPr txBox="1"/>
          <p:nvPr/>
        </p:nvSpPr>
        <p:spPr>
          <a:xfrm>
            <a:off x="6638925" y="3517909"/>
            <a:ext cx="76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sz="1600"/>
          </a:p>
        </p:txBody>
      </p:sp>
      <p:sp>
        <p:nvSpPr>
          <p:cNvPr id="208" name="Google Shape;208;p19"/>
          <p:cNvSpPr txBox="1"/>
          <p:nvPr/>
        </p:nvSpPr>
        <p:spPr>
          <a:xfrm>
            <a:off x="6715125" y="3516957"/>
            <a:ext cx="48006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Unified Inbox:</a:t>
            </a:r>
            <a:r>
              <a:rPr lang="en-US" sz="180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single messages table that can hold emails AND chat messages.</a:t>
            </a:r>
            <a:endParaRPr sz="1600" dirty="0"/>
          </a:p>
        </p:txBody>
      </p:sp>
      <p:sp>
        <p:nvSpPr>
          <p:cNvPr id="209" name="Google Shape;209;p19"/>
          <p:cNvSpPr txBox="1"/>
          <p:nvPr/>
        </p:nvSpPr>
        <p:spPr>
          <a:xfrm>
            <a:off x="6638925" y="4340631"/>
            <a:ext cx="76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sz="1600"/>
          </a:p>
        </p:txBody>
      </p:sp>
      <p:sp>
        <p:nvSpPr>
          <p:cNvPr id="210" name="Google Shape;210;p19"/>
          <p:cNvSpPr txBox="1"/>
          <p:nvPr/>
        </p:nvSpPr>
        <p:spPr>
          <a:xfrm>
            <a:off x="6715125" y="4339679"/>
            <a:ext cx="48006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 Agnostic:</a:t>
            </a:r>
            <a:r>
              <a:rPr lang="en-US" sz="180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Specifically designed </a:t>
            </a:r>
            <a:r>
              <a:rPr lang="en-US" sz="1800" b="0" i="0" u="none" strike="noStrike" cap="none" dirty="0" err="1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channel_accounts</a:t>
            </a:r>
            <a:r>
              <a:rPr lang="en-US" sz="1800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link multiple providers (Gmail, Outlook) to one user.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CEF0AD-7AAE-8AD6-8136-EFCCD92B05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17539"/>
            <a:ext cx="6286500" cy="52852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577280"/>
            <a:ext cx="3422600" cy="4794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1577280"/>
            <a:ext cx="3422600" cy="4794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2975" y="1577280"/>
            <a:ext cx="3422600" cy="479494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676275" y="485775"/>
            <a:ext cx="11381422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&amp; Resources Spec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676275" y="1177230"/>
            <a:ext cx="10839450" cy="19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06500" y="187255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900748" y="2825055"/>
            <a:ext cx="2973652" cy="30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</a:t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971550" y="3217366"/>
            <a:ext cx="28320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971550" y="3369766"/>
            <a:ext cx="28320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its ability to handle real-time data reruns (st.rerun()) effectively.</a:t>
            </a:r>
            <a:endParaRPr/>
          </a:p>
        </p:txBody>
      </p:sp>
      <p:pic>
        <p:nvPicPr>
          <p:cNvPr id="225" name="Google Shape;22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4851" y="187255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4609099" y="2825055"/>
            <a:ext cx="2973652" cy="30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Face_Recognition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4679900" y="3217366"/>
            <a:ext cx="28320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4679900" y="3369766"/>
            <a:ext cx="28320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selected this specific library because it uses a HOG (Histogram of Oriented Gradients) model which provides 99% accuracy with low latency.</a:t>
            </a:r>
            <a:endParaRPr/>
          </a:p>
        </p:txBody>
      </p:sp>
      <p:pic>
        <p:nvPicPr>
          <p:cNvPr id="229" name="Google Shape;229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23201" y="187255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8317449" y="2825055"/>
            <a:ext cx="2973652" cy="30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SQLite</a:t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8388250" y="3217366"/>
            <a:ext cx="28320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8388250" y="3369766"/>
            <a:ext cx="283205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Chosen for Milestone 1 speed, but our SQL is standard enough to swap for PostgreSQL in Milestone 4.</a:t>
            </a:r>
            <a:endParaRPr/>
          </a:p>
        </p:txBody>
      </p:sp>
      <p:pic>
        <p:nvPicPr>
          <p:cNvPr id="233" name="Google Shape;233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20813" y="206305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929163" y="206305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13701" y="206305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676275" y="485775"/>
            <a:ext cx="11381422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Glimpses</a:t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676275" y="1177230"/>
            <a:ext cx="10839450" cy="19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828675" y="5564534"/>
            <a:ext cx="49244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Look to Login Interface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438900" y="5564534"/>
            <a:ext cx="49244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Inbox page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A038BB-5AE0-5289-6A81-3D83733A8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721" y="2127160"/>
            <a:ext cx="4662782" cy="35142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29B021-46E0-F163-5693-D53F4C889A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2127160"/>
            <a:ext cx="4924425" cy="3495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4" y="1577280"/>
            <a:ext cx="5203317" cy="4794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577280"/>
            <a:ext cx="5276850" cy="479494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676275" y="485775"/>
            <a:ext cx="11381422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676275" y="1177230"/>
            <a:ext cx="10839450" cy="19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33700" y="187255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2"/>
          <p:cNvSpPr txBox="1"/>
          <p:nvPr/>
        </p:nvSpPr>
        <p:spPr>
          <a:xfrm>
            <a:off x="854392" y="2825055"/>
            <a:ext cx="492061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Integrating chat apps, summarizer</a:t>
            </a:r>
            <a:endParaRPr lang="en-US" dirty="0"/>
          </a:p>
        </p:txBody>
      </p:sp>
      <p:sp>
        <p:nvSpPr>
          <p:cNvPr id="258" name="Google Shape;258;p22"/>
          <p:cNvSpPr/>
          <p:nvPr/>
        </p:nvSpPr>
        <p:spPr>
          <a:xfrm>
            <a:off x="971550" y="3217366"/>
            <a:ext cx="46863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971550" y="3369766"/>
            <a:ext cx="46863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29"/>
              </a:lnSpc>
            </a:pPr>
            <a:r>
              <a:rPr lang="en-US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of WhatsApp, and telegram chat and multi-language support along with auto-reply and summarizer.</a:t>
            </a:r>
            <a:r>
              <a:rPr lang="en-IN" dirty="0"/>
              <a:t> </a:t>
            </a:r>
            <a:endParaRPr dirty="0"/>
          </a:p>
        </p:txBody>
      </p:sp>
      <p:pic>
        <p:nvPicPr>
          <p:cNvPr id="260" name="Google Shape;26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96300" y="187255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6416992" y="2825055"/>
            <a:ext cx="4920615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Remaining Milestones</a:t>
            </a:r>
            <a:endParaRPr dirty="0"/>
          </a:p>
        </p:txBody>
      </p:sp>
      <p:sp>
        <p:nvSpPr>
          <p:cNvPr id="262" name="Google Shape;262;p22"/>
          <p:cNvSpPr/>
          <p:nvPr/>
        </p:nvSpPr>
        <p:spPr>
          <a:xfrm>
            <a:off x="6534150" y="3217366"/>
            <a:ext cx="46863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6534150" y="3369766"/>
            <a:ext cx="4686300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of advanced AI summarization and robust Docker containerization for seamless deployment.</a:t>
            </a:r>
            <a:endParaRPr dirty="0"/>
          </a:p>
        </p:txBody>
      </p:sp>
      <p:pic>
        <p:nvPicPr>
          <p:cNvPr id="265" name="Google Shape;26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86800" y="206305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4" descr="WhatsApp Icon, Logo Vector, Messaging Symbol Transparent">
            <a:extLst>
              <a:ext uri="{FF2B5EF4-FFF2-40B4-BE49-F238E27FC236}">
                <a16:creationId xmlns:a16="http://schemas.microsoft.com/office/drawing/2014/main" id="{DB9D75FA-7B97-72F4-EA4A-9FDA76551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642" y="1970897"/>
            <a:ext cx="524113" cy="52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 txBox="1"/>
          <p:nvPr/>
        </p:nvSpPr>
        <p:spPr>
          <a:xfrm>
            <a:off x="3943859" y="2969865"/>
            <a:ext cx="4304131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2177</TotalTime>
  <Words>626</Words>
  <Application>Microsoft Office PowerPoint</Application>
  <PresentationFormat>Widescreen</PresentationFormat>
  <Paragraphs>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Singh</cp:lastModifiedBy>
  <cp:revision>8</cp:revision>
  <dcterms:modified xsi:type="dcterms:W3CDTF">2026-02-03T14:50:31Z</dcterms:modified>
</cp:coreProperties>
</file>